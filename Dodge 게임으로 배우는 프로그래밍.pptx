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1310" autoAdjust="0"/>
  </p:normalViewPr>
  <p:slideViewPr>
    <p:cSldViewPr snapToGrid="0">
      <p:cViewPr varScale="1">
        <p:scale>
          <a:sx n="89" d="100"/>
          <a:sy n="89" d="100"/>
        </p:scale>
        <p:origin x="139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8BC04-7CD5-4E77-992D-60B9C87F9C44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82471-2F49-4272-A9E8-FF748D7932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137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4A32-6249-43D1-A30B-69E8A6DD18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281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B93D-8144-3474-500D-F88348AB5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DD65DD-6AA9-3318-F098-C20783082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2F2BE7-6876-D9E3-7AC7-00A9D16FA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0A3AD-E3AA-B647-1063-DA9D3F673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4A32-6249-43D1-A30B-69E8A6DD18E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099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2844D-5949-AA2F-CD93-22797F343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484992-C557-E0C4-B3C1-44507F032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26312F-5CFA-FA5C-BE35-AFC4566C1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13F114-03D8-E11B-76DA-678BF0ED0A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84A32-6249-43D1-A30B-69E8A6DD18E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178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880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E6EB4-FC7F-B40C-8A64-2294D7C3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BB97F9-56F7-E4A5-7F52-4171987BC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1A0D7C-9C86-48F4-2916-DC6DFDDBD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950A5-7BEF-8FA8-4780-DE3A8BEA6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27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E58F-F6CB-8608-021D-3AE83B8B0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3E806E-4F58-984C-3CD4-410AB9324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FC8439-279C-C435-D173-071903504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187BB-D02F-B0AD-3FB3-37DB598FF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854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BCBE-95CA-BF3E-A327-A8ACD897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2CE794-492A-4EC9-5305-E9D5F8029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F18268-2AAF-894D-6175-5DCAE419F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27660-0143-6333-04F3-C21C031A4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648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956C5-6D89-90B2-F9F4-067BB1B0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1FB365-22A6-7E9A-7D40-EFB4262AC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8807C6-9482-9E19-9EFE-C68CCCDA0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ED50C-2132-A388-33C2-BB9B50AC2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217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84C6-0911-DFA9-74E7-4391A4C9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F875CD-A681-B299-3D1A-C956CFF91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47976D-CE65-CE6B-F612-863F4AE60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7225A4-13E9-F10A-79C4-290A77186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3437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D3D6B-BD77-91E2-D989-96322A8E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79603A-4C5C-1744-0098-C7CAC7F7E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A73C77-F461-C4AE-6944-1E002800A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173771-F026-0B2C-8B66-125CB3C1D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248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7B77E-5AE3-832F-6C89-F4EE91D5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05A09E-7230-253C-F52C-3A0F95685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68EAB7-F095-3668-E1E6-F6AC94E16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8F64D5-64AB-1A3C-ECB5-43348364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609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CA0BD-D70F-42A9-33DC-F39CF396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2F8DFD-9A53-D177-9338-676971C80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38D611-BFF6-6FF0-6E3B-D86F5D40D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A370F-9791-94AD-11DF-F93FAFA30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4876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10979-52CD-AC1D-739B-16C6BD58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C805E2-8B5C-0640-8543-1C6AB9720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06FDCF-D813-5E49-F74F-46DBB8E59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FC891-1102-75E2-672D-8E6DFCB44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3640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E753-FD37-262B-9344-ABE6129F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B9008D-2B88-888E-FB0A-4DD1DD0B7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EA8421-EA15-7BC9-9511-780408B44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F1415-9839-038F-6C36-983AA3681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486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9C322-F6BD-E611-6AAF-526FF3180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9B2150-CD39-0F34-0107-5B806E8CF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F8024B-3F2E-4516-E617-48EB78E60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FB1A52-F7EA-0DA3-8CE5-669BCB884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7667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6DF2-2999-9B3B-C23B-BEEF4DC8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7E5D8-31C9-783E-4FAD-6AE2A00B2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218093-7B68-AD8B-C467-36D243153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98E699-AC35-A89C-AA9E-96D5432F1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93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E190-C237-C1C9-57C6-2ED5D66B8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72F37-918E-04FE-0B8F-F91B276AA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6A7CC2-4349-8FCA-46AD-8DF17E6FF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63B83D-DEB3-F72C-C778-A8DBEDD6A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939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4905-B7B7-DE14-7CB6-3BFCD77A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C698A47-2556-99B8-FF9B-264090A4A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E98625-D895-9F7A-E15C-93CF72945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BD1D4B-966A-53CA-7C2F-6311A74A9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622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F29C6-B90A-54B1-271D-33BCE4101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94FB8D-A681-42C6-93DB-95200F8B5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130A9C-620C-F58A-B8FF-2EAE015D75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EFCD4-B70A-074E-C7F2-650ABCA99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24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0BB3-1235-6980-46E4-5A9DE9AA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DC66A9-B133-0C10-A7AD-AF82B5C57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ADABCD8-5109-E5C8-218B-65703EB09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6530ED-985A-3503-5532-F929BBDB0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5725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7967-2BA1-A4CB-897D-F3E34A06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4DE838-394E-5C8B-E0E8-64806088B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76D5BB-3ECD-33DC-5730-C06947EE1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0B657C-8230-FDBF-7128-1945867D0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29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5E22-3B44-EE20-2D8B-8920942E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FA2A42-0D29-CB72-10A2-F3172D19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F2DB07-983D-A47F-9E58-E036AAEB5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5416F6-99E5-E028-9100-59AE31AF4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482471-2F49-4272-A9E8-FF748D7932D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90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47D33-15F8-871F-10A5-A2D290397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A86CFE-D201-DF86-0735-AE844FD0F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CA8421-667D-EB87-D678-87920D980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3D527-068A-3784-7D77-188A8A7E3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3D6C8-6C8A-A7BC-EC90-36FDE4B4A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12A5ED-0258-E66E-5102-B726AEBB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74C00-82DC-E60F-E635-59846AD7A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ABFD0-1008-8724-FD00-CB3FAD3F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FCA09D-4A90-1CD0-9597-DC3B8215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53CFA1-8D05-194A-4DA4-E3FCF9FB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0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7FC8C3-87FD-7431-69DB-88E1321F0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003755-4B06-B961-C8E5-B1C15988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A6945-2AD1-53EB-2E79-225E23A5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B74FE-D58E-2065-D5FC-E60FED9E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193C2-F917-0156-08BA-63408567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90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6010C1-B62D-851C-CA94-4E3902516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13767-EEC7-F884-BE6C-2B2A864E9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4E1F47-0E44-238D-6173-07BDC8EAA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11B0B2-1556-4B5F-C591-BCE6C9FD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3A24F5-BA3E-0FF8-95E9-CF85BA10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4605F-38A6-0431-FE62-AFDFAE3F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530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7F284-EF4B-71B5-0781-5143B5BBD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FE6370-13F9-3732-CA0B-2127430EE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746CF7-F2E6-FF21-2076-227C4FA95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6051AC-BB4B-9242-43DC-3E7497B96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1C6841-A99F-673F-DE4D-FCFABFFBD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CCB614-EA2A-EC6B-D450-7AC8B389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06ADDE-D327-66D2-6DFA-6F80B739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7CDC04-7F25-89D5-EA78-07680519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1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1F9EC-1E29-1C64-CF98-89A64474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86EC25-E779-DAEB-30E8-04A9A5A9D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1FC008-6CA8-B327-2543-55783D9D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CB77CC-2CA6-5BDD-77BB-FF8A523A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E046C4-1D0E-7A83-64E4-5C0779B6E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D33597-52A9-9D05-CF43-5182A87A0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5336A-759D-97A0-6DC9-40FD3BED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42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8055D-782F-08BF-CE9A-DA28063D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707FBB-6320-C01C-370D-0B19B8EEF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F710C8-3C55-D1C3-943D-8E8614B9B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E708AF-BFF6-5E4E-4AFB-BF90A7FB0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8A4139-536E-B48D-D12A-F9AD82122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B0D6FC-050F-6DD4-A032-55ADE7BD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508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6D987-4D72-6246-E410-D4BF7C82A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EBC4DE-F945-BFE3-C725-59A8D32EC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2360E0-C33C-63D7-A9AF-7D520A0EB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2B366-6A1D-589B-5A1B-F5182B69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49213B-458D-89C4-283A-3289C2D2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F4BD05-E994-4F12-1D39-80235713F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47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4103A-5CB4-A676-5904-85423AF0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0515D6-B753-D58C-4390-1CBE64661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6483D3-B204-3B59-C96E-A94BA684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973E0F-54C6-08FD-17B1-78F5B026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EE489-8332-EC4F-DCB9-6EDC54C2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3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9CBBD0E-7CB2-3911-C82C-18DA89793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DB0142-6F86-88EE-853E-88E566063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B5C124-40BB-D22D-F857-1359B0DC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DF1EEF-8C67-76F8-4754-DA7FC271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517BB6-D28A-D57D-BE18-D64B1C758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5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0F8FF9-D860-981F-A700-6077D797E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FC6EE7-D215-F861-96BF-D4EAF669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5D29C-8232-E040-4994-9F147CA37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3E085-DA3A-48D5-B9BD-27C169D91CB1}" type="datetimeFigureOut">
              <a:rPr lang="ko-KR" altLang="en-US" smtClean="0"/>
              <a:t>2026-02-08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C118F-1651-85D0-9DAD-F2533F9F3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969EE3-027D-4933-58A2-A499FEE2A3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137A2-EB1E-4374-BCEB-BFB4BF46FE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5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1B4035E-AC43-B351-020C-DE62FF2C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949" y="1004448"/>
            <a:ext cx="6035040" cy="107575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Dodge 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게임으로 배우는 프로그래밍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5893BB-1300-0BA9-3E1B-547E817D8D9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기본 프로그래밍 개념 학습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ko-KR" sz="1400" dirty="0"/>
              <a:t>Dodge </a:t>
            </a:r>
            <a:r>
              <a:rPr lang="ko-KR" altLang="en-US" sz="1400" dirty="0"/>
              <a:t>게임 개발은 변수</a:t>
            </a:r>
            <a:r>
              <a:rPr lang="en-US" altLang="ko-KR" sz="1400" dirty="0"/>
              <a:t>, </a:t>
            </a:r>
            <a:r>
              <a:rPr lang="ko-KR" altLang="en-US" sz="1400" dirty="0"/>
              <a:t>조건문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반복문</a:t>
            </a:r>
            <a:r>
              <a:rPr lang="ko-KR" altLang="en-US" sz="1400" dirty="0"/>
              <a:t> 등 프로그래밍의 기초 개념을 쉽게 접할 수 있게 해줍니다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논리적 사고력 향상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게임의 동작 논리를 구현하면서 논리적 사고와 문제 해결 능력을 자연스럽게 키울 수 있습니다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실시간 피드백 경험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직접 코드를 수정하고 결과를 즉시 확인하며 실시간 피드백을 통해 학습 효과가 높아집니다</a:t>
            </a:r>
            <a:r>
              <a:rPr lang="en-US" altLang="ko-KR" sz="1400" dirty="0"/>
              <a:t>.</a:t>
            </a:r>
            <a:endParaRPr lang="en-US" altLang="ko-KR" sz="1400" b="1" dirty="0"/>
          </a:p>
          <a:p>
            <a:pPr marL="0" indent="0">
              <a:spcBef>
                <a:spcPts val="2500"/>
              </a:spcBef>
              <a:buNone/>
            </a:pPr>
            <a:r>
              <a:rPr lang="en-US" altLang="ko-KR" sz="1400" b="1" dirty="0"/>
              <a:t>AI </a:t>
            </a:r>
            <a:r>
              <a:rPr lang="ko-KR" altLang="en-US" sz="1400" b="1" dirty="0"/>
              <a:t>사용 경험</a:t>
            </a:r>
          </a:p>
          <a:p>
            <a:pPr marL="0" lvl="1" indent="0">
              <a:buNone/>
            </a:pPr>
            <a:r>
              <a:rPr lang="en-US" altLang="ko-KR" sz="1400" dirty="0"/>
              <a:t>AI</a:t>
            </a:r>
            <a:r>
              <a:rPr lang="ko-KR" altLang="en-US" sz="1400" dirty="0"/>
              <a:t>를 이용해서 게임에 여러 기능을 추가하면서</a:t>
            </a:r>
            <a:r>
              <a:rPr lang="en-US" altLang="ko-KR" sz="1400" dirty="0"/>
              <a:t>, AI</a:t>
            </a:r>
            <a:r>
              <a:rPr lang="ko-KR" altLang="en-US" sz="1400" dirty="0"/>
              <a:t>로 개발을 </a:t>
            </a:r>
            <a:r>
              <a:rPr lang="ko-KR" altLang="en-US" sz="1400" dirty="0" err="1"/>
              <a:t>하는것에</a:t>
            </a:r>
            <a:r>
              <a:rPr lang="ko-KR" altLang="en-US" sz="1400" dirty="0"/>
              <a:t> 대한 막연함을 없앨 수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실제 게임을 만들면서 흥미를 붙일 수 있음</a:t>
            </a:r>
            <a:r>
              <a:rPr lang="en-US" altLang="ko-KR" sz="1400" dirty="0"/>
              <a:t>.</a:t>
            </a:r>
          </a:p>
        </p:txBody>
      </p:sp>
      <p:pic>
        <p:nvPicPr>
          <p:cNvPr id="5" name="내용 개체 틀 4" descr="디지털 글자 전자책 알파벳 읽기 파일 화면">
            <a:extLst>
              <a:ext uri="{FF2B5EF4-FFF2-40B4-BE49-F238E27FC236}">
                <a16:creationId xmlns:a16="http://schemas.microsoft.com/office/drawing/2014/main" id="{8419AD61-1BE8-44F2-9E49-C7A6D5C0EA3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8118" r="52132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4347A4-EB6A-E5D9-80BF-572D8C6982EA}"/>
              </a:ext>
            </a:extLst>
          </p:cNvPr>
          <p:cNvSpPr txBox="1"/>
          <p:nvPr/>
        </p:nvSpPr>
        <p:spPr>
          <a:xfrm>
            <a:off x="553482" y="225474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Git </a:t>
            </a:r>
            <a:r>
              <a:rPr lang="ko-KR" altLang="en-US" dirty="0"/>
              <a:t>주소</a:t>
            </a:r>
            <a:endParaRPr lang="en-US" altLang="ko-KR" dirty="0"/>
          </a:p>
          <a:p>
            <a:r>
              <a:rPr lang="ko-KR" altLang="en-US" dirty="0"/>
              <a:t>https://github.com/checheche12/simple_dodge</a:t>
            </a:r>
          </a:p>
        </p:txBody>
      </p:sp>
    </p:spTree>
    <p:extLst>
      <p:ext uri="{BB962C8B-B14F-4D97-AF65-F5344CB8AC3E}">
        <p14:creationId xmlns:p14="http://schemas.microsoft.com/office/powerpoint/2010/main" val="395117794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EB9C0-2705-DC6F-D831-A8652ECA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40332-CD92-F88E-48D2-E6390A49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344789"/>
            <a:ext cx="6035040" cy="672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게임 루프의 구성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0C92EF-A5A9-C6B3-CE1A-F2E81BAAE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126" y="1362502"/>
            <a:ext cx="10891221" cy="4876933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ko-KR" altLang="en-US" dirty="0"/>
              <a:t>입력을 받는다</a:t>
            </a:r>
            <a:r>
              <a:rPr lang="en-US" altLang="ko-KR" dirty="0"/>
              <a:t>. (</a:t>
            </a:r>
            <a:r>
              <a:rPr lang="ko-KR" altLang="en-US" dirty="0"/>
              <a:t>입력 없이 가만히 있을 수도 있다</a:t>
            </a:r>
            <a:r>
              <a:rPr lang="en-US" altLang="ko-KR" dirty="0"/>
              <a:t>.)</a:t>
            </a:r>
          </a:p>
          <a:p>
            <a:pPr marL="514350" indent="-514350">
              <a:buAutoNum type="arabicPeriod"/>
            </a:pPr>
            <a:r>
              <a:rPr lang="ko-KR" altLang="en-US" dirty="0"/>
              <a:t>게임 상태를 계산한다</a:t>
            </a:r>
            <a:r>
              <a:rPr lang="en-US" altLang="ko-KR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dirty="0"/>
              <a:t>화면을 다시 그린다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 과정을 </a:t>
            </a:r>
            <a:r>
              <a:rPr lang="en-US" altLang="ko-KR" dirty="0"/>
              <a:t>1</a:t>
            </a:r>
            <a:r>
              <a:rPr lang="ko-KR" altLang="en-US" dirty="0"/>
              <a:t>초에 수십번을 반복 하는 프로그램입니다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위 과정을 </a:t>
            </a:r>
            <a:r>
              <a:rPr lang="en-US" altLang="ko-KR" dirty="0"/>
              <a:t>60</a:t>
            </a:r>
            <a:r>
              <a:rPr lang="ko-KR" altLang="en-US" dirty="0"/>
              <a:t>번 반복하면 </a:t>
            </a:r>
            <a:r>
              <a:rPr lang="en-US" altLang="ko-KR" dirty="0"/>
              <a:t>60FPS </a:t>
            </a:r>
            <a:r>
              <a:rPr lang="ko-KR" altLang="en-US" dirty="0"/>
              <a:t>가 </a:t>
            </a:r>
            <a:r>
              <a:rPr lang="ko-KR" altLang="en-US" dirty="0" err="1"/>
              <a:t>되는것이고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120</a:t>
            </a:r>
            <a:r>
              <a:rPr lang="ko-KR" altLang="en-US" dirty="0"/>
              <a:t>번 반복하면 </a:t>
            </a:r>
            <a:r>
              <a:rPr lang="en-US" altLang="ko-KR" dirty="0"/>
              <a:t>120FPS </a:t>
            </a:r>
            <a:r>
              <a:rPr lang="ko-KR" altLang="en-US" dirty="0"/>
              <a:t>가 되는 것입니다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컴퓨터 사양이 다르기 때문에 최신 게임들은 프레임을 고정시킬 수는 없지만 간단한 게임은 </a:t>
            </a:r>
            <a:r>
              <a:rPr lang="en-US" altLang="ko-KR" dirty="0"/>
              <a:t>60FPS</a:t>
            </a:r>
            <a:r>
              <a:rPr lang="ko-KR" altLang="en-US" dirty="0"/>
              <a:t>도 문제 없기 때문에 </a:t>
            </a:r>
            <a:r>
              <a:rPr lang="en-US" altLang="ko-KR" dirty="0"/>
              <a:t>60FPS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게임을 만들어 봅시다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31856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4E8C1-4E7A-3EAE-95A0-6720CFA74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061E9-5E0D-B8BE-B544-709CB6B5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344789"/>
            <a:ext cx="6035040" cy="67249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게임 루프의 구성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0EA13BB-7726-A9A5-E5C9-DFE133291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336" y="1344706"/>
            <a:ext cx="10880464" cy="48322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ko-KR" altLang="en-US" dirty="0"/>
              <a:t>┌─────────────┐</a:t>
            </a:r>
          </a:p>
          <a:p>
            <a:pPr marL="0" indent="0">
              <a:buNone/>
            </a:pPr>
            <a:r>
              <a:rPr lang="ko-KR" altLang="en-US" dirty="0"/>
              <a:t>│  입력                             │</a:t>
            </a:r>
          </a:p>
          <a:p>
            <a:pPr marL="0" indent="0">
              <a:buNone/>
            </a:pPr>
            <a:r>
              <a:rPr lang="ko-KR" altLang="en-US" dirty="0"/>
              <a:t>└──────┬──────┘</a:t>
            </a:r>
          </a:p>
          <a:p>
            <a:pPr marL="0" indent="0">
              <a:buNone/>
            </a:pPr>
            <a:r>
              <a:rPr lang="ko-KR" altLang="en-US" dirty="0"/>
              <a:t>      ↓</a:t>
            </a:r>
          </a:p>
          <a:p>
            <a:pPr marL="0" indent="0">
              <a:buNone/>
            </a:pPr>
            <a:r>
              <a:rPr lang="ko-KR" altLang="en-US" dirty="0"/>
              <a:t>┌─────────────┐</a:t>
            </a:r>
          </a:p>
          <a:p>
            <a:pPr marL="0" indent="0">
              <a:buNone/>
            </a:pPr>
            <a:r>
              <a:rPr lang="ko-KR" altLang="en-US" dirty="0"/>
              <a:t>│  상태 계산                       │  ← 변수</a:t>
            </a:r>
            <a:r>
              <a:rPr lang="en-US" altLang="ko-KR" dirty="0"/>
              <a:t>, if, </a:t>
            </a:r>
            <a:r>
              <a:rPr lang="ko-KR" altLang="en-US" dirty="0" err="1"/>
              <a:t>반복문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└──────┬──────┘</a:t>
            </a:r>
          </a:p>
          <a:p>
            <a:pPr marL="0" indent="0">
              <a:buNone/>
            </a:pPr>
            <a:r>
              <a:rPr lang="ko-KR" altLang="en-US" dirty="0"/>
              <a:t>       ↓</a:t>
            </a:r>
          </a:p>
          <a:p>
            <a:pPr marL="0" indent="0">
              <a:buNone/>
            </a:pPr>
            <a:r>
              <a:rPr lang="ko-KR" altLang="en-US" dirty="0"/>
              <a:t>┌─────────────┐</a:t>
            </a:r>
          </a:p>
          <a:p>
            <a:pPr marL="0" indent="0">
              <a:buNone/>
            </a:pPr>
            <a:r>
              <a:rPr lang="ko-KR" altLang="en-US" dirty="0"/>
              <a:t>│  화면 그리기                    │</a:t>
            </a:r>
          </a:p>
          <a:p>
            <a:pPr marL="0" indent="0">
              <a:buNone/>
            </a:pPr>
            <a:r>
              <a:rPr lang="ko-KR" altLang="en-US" dirty="0"/>
              <a:t>└─────────────┘</a:t>
            </a:r>
          </a:p>
          <a:p>
            <a:pPr marL="0" indent="0">
              <a:buNone/>
            </a:pPr>
            <a:r>
              <a:rPr lang="ko-KR" altLang="en-US" dirty="0"/>
              <a:t>       ↑</a:t>
            </a:r>
          </a:p>
          <a:p>
            <a:pPr marL="0" indent="0">
              <a:buNone/>
            </a:pPr>
            <a:r>
              <a:rPr lang="ko-KR" altLang="en-US" dirty="0"/>
              <a:t>       └────── 반복</a:t>
            </a:r>
          </a:p>
        </p:txBody>
      </p:sp>
    </p:spTree>
    <p:extLst>
      <p:ext uri="{BB962C8B-B14F-4D97-AF65-F5344CB8AC3E}">
        <p14:creationId xmlns:p14="http://schemas.microsoft.com/office/powerpoint/2010/main" val="284527576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871432E-1C41-C8C8-5463-2DCC6E2F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5723067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Pygame 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라이브러리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60054-C7B1-8DDB-7BB5-643F89FB7FC7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372589" y="1461247"/>
            <a:ext cx="11320973" cy="4095078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게임 개발의 용이성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ko-KR" sz="1400" dirty="0" err="1"/>
              <a:t>Pygame</a:t>
            </a:r>
            <a:r>
              <a:rPr lang="ko-KR" altLang="en-US" sz="1400" dirty="0"/>
              <a:t>은 </a:t>
            </a:r>
            <a:r>
              <a:rPr lang="ko-KR" altLang="en-US" sz="1400" dirty="0" err="1"/>
              <a:t>파이썬을</a:t>
            </a:r>
            <a:r>
              <a:rPr lang="ko-KR" altLang="en-US" sz="1400" dirty="0"/>
              <a:t> 사용해 초보자도 쉽고 간단하게 게임을 만들 수 있도록 도와줍니다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다양한 기능 지원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ko-KR" altLang="en-US" sz="1400" dirty="0"/>
              <a:t>그래픽</a:t>
            </a:r>
            <a:r>
              <a:rPr lang="en-US" altLang="ko-KR" sz="1400" dirty="0"/>
              <a:t>, </a:t>
            </a:r>
            <a:r>
              <a:rPr lang="ko-KR" altLang="en-US" sz="1400" dirty="0"/>
              <a:t>사운드</a:t>
            </a:r>
            <a:r>
              <a:rPr lang="en-US" altLang="ko-KR" sz="1400" dirty="0"/>
              <a:t>, </a:t>
            </a:r>
            <a:r>
              <a:rPr lang="ko-KR" altLang="en-US" sz="1400" dirty="0"/>
              <a:t>입력 장치 등 다양한 기능을 지원하여 게임 제작에 필요한 요소를 쉽게 구현할 수 있습니다</a:t>
            </a:r>
            <a:r>
              <a:rPr lang="en-US" altLang="ko-KR" sz="1400" dirty="0"/>
              <a:t>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ko-KR" altLang="en-US" sz="1400" b="1" dirty="0"/>
              <a:t>오픈소스와 커뮤니티</a:t>
            </a:r>
          </a:p>
          <a:p>
            <a:pPr marL="0" lvl="1" indent="0">
              <a:buFont typeface="Arial" panose="020B0604020202020204" pitchFamily="34" charset="0"/>
              <a:buNone/>
            </a:pPr>
            <a:r>
              <a:rPr lang="en-US" altLang="ko-KR" sz="1400" dirty="0" err="1"/>
              <a:t>Pygame</a:t>
            </a:r>
            <a:r>
              <a:rPr lang="ko-KR" altLang="en-US" sz="1400" dirty="0"/>
              <a:t>은 무료로 사용할 수 있는 오픈소스이며</a:t>
            </a:r>
            <a:r>
              <a:rPr lang="en-US" altLang="ko-KR" sz="1400" dirty="0"/>
              <a:t>, </a:t>
            </a:r>
            <a:r>
              <a:rPr lang="ko-KR" altLang="en-US" sz="1400" dirty="0"/>
              <a:t>활발한 커뮤니티가 존재해 다양한 자료와 지원을 받을 수 있습니다</a:t>
            </a:r>
            <a:r>
              <a:rPr lang="en-US" altLang="ko-KR" sz="1400" dirty="0"/>
              <a:t>.</a:t>
            </a:r>
          </a:p>
          <a:p>
            <a:pPr marL="0" lvl="1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lvl="1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lvl="1" indent="0">
              <a:buNone/>
            </a:pPr>
            <a:r>
              <a:rPr lang="en-US" altLang="ko-KR" sz="1400" dirty="0"/>
              <a:t>https://github.com/pygame/pygame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8249111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3C25-C7B7-D87C-2950-FF3254E0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AB602A-F035-3783-9D29-BF5C3731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3600" b="1" dirty="0" err="1"/>
              <a:t>Pygame</a:t>
            </a:r>
            <a:r>
              <a:rPr lang="ko-KR" altLang="en-US" sz="3600" b="1" dirty="0"/>
              <a:t>으로 화면을 띄워보자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C0E1C-2B1E-FBAE-73A7-5741FF8AA447}"/>
              </a:ext>
            </a:extLst>
          </p:cNvPr>
          <p:cNvSpPr txBox="1"/>
          <p:nvPr/>
        </p:nvSpPr>
        <p:spPr>
          <a:xfrm>
            <a:off x="309045" y="1073978"/>
            <a:ext cx="60942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https://www.pygame.org/docs/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공식 </a:t>
            </a:r>
            <a:r>
              <a:rPr lang="en-US" altLang="ko-KR" dirty="0"/>
              <a:t>document </a:t>
            </a:r>
            <a:r>
              <a:rPr lang="ko-KR" altLang="en-US" dirty="0"/>
              <a:t>를 보면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옆과 같은 코드가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주석이 적혀 있어서 주석을 읽고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필요한 기능만</a:t>
            </a:r>
            <a:r>
              <a:rPr lang="en-US" altLang="ko-KR" dirty="0"/>
              <a:t> </a:t>
            </a:r>
            <a:r>
              <a:rPr lang="ko-KR" altLang="en-US" dirty="0"/>
              <a:t>남겨둡시다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그림 11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034C66-2538-B31B-6C5B-796934FEF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32" y="935872"/>
            <a:ext cx="6677957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3769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259D4-D91A-B4C1-E600-79C679F42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7FDBC-2335-4262-0ADB-06A9AA96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3600" b="1" dirty="0" err="1"/>
              <a:t>Pygame</a:t>
            </a:r>
            <a:r>
              <a:rPr lang="ko-KR" altLang="en-US" sz="3600" b="1" dirty="0"/>
              <a:t>으로 화면을 띄워보자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6486EF-B953-B267-F8A0-65047EC65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1138243"/>
            <a:ext cx="11031489" cy="2772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5C446-CB7E-CD3B-6FCB-E037EE1C5DCB}"/>
              </a:ext>
            </a:extLst>
          </p:cNvPr>
          <p:cNvSpPr txBox="1"/>
          <p:nvPr/>
        </p:nvSpPr>
        <p:spPr>
          <a:xfrm>
            <a:off x="279700" y="4310061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대충 이 정도 될 것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한번 실행을 해 보면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오른쪽 화면이 잘 뜨는 것을 확인 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스크린샷, 컴퓨터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96027F-9492-C9B1-DBD9-1B7185D06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431" y="3999777"/>
            <a:ext cx="3537929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38564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B2E0-F92D-E4B7-FAF7-0DC76B6A2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357B5-8DB1-A954-8E80-AB782D08D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en-US" altLang="ko-KR" sz="3600" b="1" dirty="0" err="1"/>
              <a:t>Pygame</a:t>
            </a:r>
            <a:r>
              <a:rPr lang="ko-KR" altLang="en-US" sz="3600" b="1" dirty="0"/>
              <a:t>으로 화면을 띄워보자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ED6EA-9FDB-4B4E-5EE3-A14E93F207D4}"/>
              </a:ext>
            </a:extLst>
          </p:cNvPr>
          <p:cNvSpPr txBox="1"/>
          <p:nvPr/>
        </p:nvSpPr>
        <p:spPr>
          <a:xfrm>
            <a:off x="389966" y="1256900"/>
            <a:ext cx="105290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지금 프로그램은 아무것도 안 그리지만,</a:t>
            </a:r>
          </a:p>
          <a:p>
            <a:r>
              <a:rPr lang="ko-KR" altLang="en-US" dirty="0"/>
              <a:t>이미 게임의 첫 구조는 완성된 상태입니다.</a:t>
            </a:r>
          </a:p>
          <a:p>
            <a:endParaRPr lang="ko-KR" altLang="en-US" dirty="0"/>
          </a:p>
          <a:p>
            <a:r>
              <a:rPr lang="ko-KR" altLang="en-US" dirty="0"/>
              <a:t>- 창이 떠 있고</a:t>
            </a:r>
          </a:p>
          <a:p>
            <a:r>
              <a:rPr lang="ko-KR" altLang="en-US" dirty="0"/>
              <a:t>- 이벤트를 계속 감지하고</a:t>
            </a:r>
          </a:p>
          <a:p>
            <a:r>
              <a:rPr lang="ko-KR" altLang="en-US" dirty="0"/>
              <a:t>- 종료 조건도 처리하고 있습니다</a:t>
            </a:r>
          </a:p>
          <a:p>
            <a:endParaRPr lang="ko-KR" altLang="en-US" dirty="0"/>
          </a:p>
          <a:p>
            <a:r>
              <a:rPr lang="ko-KR" altLang="en-US" dirty="0"/>
              <a:t>이제 남은 것은</a:t>
            </a:r>
          </a:p>
          <a:p>
            <a:r>
              <a:rPr lang="ko-KR" altLang="en-US" dirty="0"/>
              <a:t>화면에 무엇을 그릴 것인가와 입력을 어떻게 받을 것인가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4737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B725-EFDB-DB90-E8BD-2EE4FCB0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90720-9436-6FF1-7647-C5EEF64F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빨간색 공을 하나 그려보자</a:t>
            </a: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6F5C58-F2C1-D1B3-548C-BA3D419FC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1017441"/>
            <a:ext cx="9100969" cy="39697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FF1012-3145-4059-A04A-C68F405C815D}"/>
              </a:ext>
            </a:extLst>
          </p:cNvPr>
          <p:cNvSpPr txBox="1"/>
          <p:nvPr/>
        </p:nvSpPr>
        <p:spPr>
          <a:xfrm>
            <a:off x="279700" y="5263260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공 </a:t>
            </a:r>
            <a:r>
              <a:rPr lang="ko-KR" altLang="en-US" dirty="0" err="1"/>
              <a:t>그리는건</a:t>
            </a:r>
            <a:r>
              <a:rPr lang="ko-KR" altLang="en-US" dirty="0"/>
              <a:t> 대충 저기 들어가면 있겠네요</a:t>
            </a:r>
            <a:r>
              <a:rPr lang="en-US" altLang="ko-KR" dirty="0"/>
              <a:t>.</a:t>
            </a: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8E2B23-5707-D954-39AE-53A5D2A51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425" y="5263260"/>
            <a:ext cx="6687483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30121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5064-0668-72AE-20FB-D44DF8263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23E0F-22A2-F70B-3F47-F83E38575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빨간색 공을 하나 그려보자</a:t>
            </a: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81685DF-901A-F3C2-5060-69DFBAED2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970959"/>
            <a:ext cx="6687483" cy="14289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A5AD3F-21E9-5553-04C1-46C73818695C}"/>
              </a:ext>
            </a:extLst>
          </p:cNvPr>
          <p:cNvSpPr txBox="1"/>
          <p:nvPr/>
        </p:nvSpPr>
        <p:spPr>
          <a:xfrm>
            <a:off x="389966" y="4204453"/>
            <a:ext cx="60942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pygame.draw.circle</a:t>
            </a:r>
            <a:r>
              <a:rPr lang="ko-KR" altLang="en-US" dirty="0"/>
              <a:t>(</a:t>
            </a:r>
            <a:r>
              <a:rPr lang="ko-KR" altLang="en-US" dirty="0" err="1"/>
              <a:t>그릴_화면</a:t>
            </a:r>
            <a:r>
              <a:rPr lang="ko-KR" altLang="en-US" dirty="0"/>
              <a:t>, 색상, 중심좌표, 반지름)</a:t>
            </a:r>
            <a:endParaRPr lang="en-US" altLang="ko-KR" dirty="0"/>
          </a:p>
          <a:p>
            <a:r>
              <a:rPr lang="en-US" altLang="ko-KR" dirty="0" err="1"/>
              <a:t>Pygame.display.filp</a:t>
            </a:r>
            <a:r>
              <a:rPr lang="en-US" altLang="ko-KR" dirty="0"/>
              <a:t>()</a:t>
            </a:r>
          </a:p>
          <a:p>
            <a:endParaRPr lang="en-US" altLang="ko-KR" dirty="0"/>
          </a:p>
          <a:p>
            <a:r>
              <a:rPr lang="ko-KR" altLang="en-US" dirty="0"/>
              <a:t>번역하면 대충 이렇게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직접 그려보죠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폰트, 스크린샷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21C3D2-9A07-DB90-10F0-D7978F67F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27" y="2648751"/>
            <a:ext cx="6623256" cy="106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A8146-C614-67EC-A987-8FC4797AA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D8A139-1B11-DD06-8895-10D45AE0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빨간색 공을 하나 그려보자</a:t>
            </a:r>
          </a:p>
        </p:txBody>
      </p:sp>
      <p:pic>
        <p:nvPicPr>
          <p:cNvPr id="5" name="그림 4" descr="텍스트, 멀티미디어 소프트웨어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73B05F-63D4-2100-542A-BFE04554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78" y="922685"/>
            <a:ext cx="11876443" cy="3140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883AA6-C94A-6BE4-9079-D85AFBE7EE25}"/>
              </a:ext>
            </a:extLst>
          </p:cNvPr>
          <p:cNvSpPr txBox="1"/>
          <p:nvPr/>
        </p:nvSpPr>
        <p:spPr>
          <a:xfrm>
            <a:off x="157778" y="4441121"/>
            <a:ext cx="6094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위에서 썼던 코드를 업데이트 해서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공을 그리는 코드를 넣었습니다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이걸 실행 시켜 볼까요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5496682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0E23A-C7FA-887A-7E03-3015D994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F26BD-31F0-19DC-097B-D1C5018D7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0" y="253073"/>
            <a:ext cx="6314738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빨간색 공을 하나 그려보자</a:t>
            </a:r>
          </a:p>
        </p:txBody>
      </p:sp>
      <p:pic>
        <p:nvPicPr>
          <p:cNvPr id="4" name="그림 3" descr="컴퓨터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9D9F02-D2A7-51B1-1260-079F7C4F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700" y="1758338"/>
            <a:ext cx="6216277" cy="48465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569C8-0ECA-6F86-6007-5C82034FF548}"/>
              </a:ext>
            </a:extLst>
          </p:cNvPr>
          <p:cNvSpPr txBox="1"/>
          <p:nvPr/>
        </p:nvSpPr>
        <p:spPr>
          <a:xfrm>
            <a:off x="279700" y="1192312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이렇게 빨간 공이 잘 나오는 것을 확인 할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518453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49D1-79A1-76D1-CC60-E6B175C9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B7CCA-B1AB-B4B1-AECF-0876DC951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6766559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그려진 빨간 공을 이동시켜 보자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B153C2-855A-7918-F41B-9FEB8F5D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72" y="1400568"/>
            <a:ext cx="8913304" cy="4569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BAEFA5-EE41-2926-2FCA-D6F6405853A7}"/>
              </a:ext>
            </a:extLst>
          </p:cNvPr>
          <p:cNvSpPr txBox="1"/>
          <p:nvPr/>
        </p:nvSpPr>
        <p:spPr>
          <a:xfrm>
            <a:off x="454511" y="937721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키를 눌렀을 때 반응은 여기 있겠네요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20C723-8360-A372-B082-868A140A7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72" y="4466693"/>
            <a:ext cx="810690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7782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870E0-77B6-FAEC-46E6-5B3AE5AE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570CA-D056-5C0A-D42D-BE99069C3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6766559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그려진 빨간 공을 이동시켜 보자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F10B46-A882-5CCA-16F7-A1DF6BD5A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99" y="991973"/>
            <a:ext cx="8106906" cy="19814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A1ECA6-CABB-215D-439A-AAFE83B3CA84}"/>
              </a:ext>
            </a:extLst>
          </p:cNvPr>
          <p:cNvSpPr txBox="1"/>
          <p:nvPr/>
        </p:nvSpPr>
        <p:spPr>
          <a:xfrm>
            <a:off x="279698" y="3429000"/>
            <a:ext cx="65621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읽어보니까 배열로 반환해주고</a:t>
            </a:r>
            <a:r>
              <a:rPr lang="en-US" altLang="ko-KR" dirty="0"/>
              <a:t>, </a:t>
            </a:r>
            <a:r>
              <a:rPr lang="ko-KR" altLang="en-US" dirty="0"/>
              <a:t>그 배열안에 값이 </a:t>
            </a:r>
            <a:r>
              <a:rPr lang="ko-KR" altLang="en-US" dirty="0" err="1"/>
              <a:t>눌려있으면</a:t>
            </a:r>
            <a:r>
              <a:rPr lang="ko-KR" altLang="en-US" dirty="0"/>
              <a:t> </a:t>
            </a:r>
            <a:r>
              <a:rPr lang="en-US" altLang="ko-KR" dirty="0"/>
              <a:t>True</a:t>
            </a:r>
            <a:r>
              <a:rPr lang="ko-KR" altLang="en-US" dirty="0"/>
              <a:t>를 </a:t>
            </a:r>
            <a:r>
              <a:rPr lang="ko-KR" altLang="en-US" dirty="0" err="1"/>
              <a:t>반환해준다는걸</a:t>
            </a:r>
            <a:r>
              <a:rPr lang="ko-KR" altLang="en-US" dirty="0"/>
              <a:t>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어떤 값을 </a:t>
            </a:r>
            <a:r>
              <a:rPr lang="ko-KR" altLang="en-US" dirty="0" err="1"/>
              <a:t>참조해야하는지는</a:t>
            </a:r>
            <a:r>
              <a:rPr lang="ko-KR" altLang="en-US" dirty="0"/>
              <a:t> 아래쪽을 보면 알 수 있습니다</a:t>
            </a:r>
            <a:r>
              <a:rPr lang="en-US" altLang="ko-KR" dirty="0"/>
              <a:t>.</a:t>
            </a:r>
          </a:p>
        </p:txBody>
      </p:sp>
      <p:pic>
        <p:nvPicPr>
          <p:cNvPr id="8" name="그림 7" descr="텍스트, 폰트, 스크린샷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331B38-91B9-A204-381C-20A1DC2A6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73" y="4815190"/>
            <a:ext cx="3524742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9679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83C3-DA5B-8F74-F36D-73859EC0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730B7-31A6-2D1F-6EB8-92147A86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6766559" cy="5911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그려진 빨간 공을 이동시켜 보자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A93142-2565-32F0-B9AB-87267A082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686" y="2039032"/>
            <a:ext cx="3877216" cy="3877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9C6BB0-5FA9-A245-24A9-CD369AA38386}"/>
              </a:ext>
            </a:extLst>
          </p:cNvPr>
          <p:cNvSpPr txBox="1"/>
          <p:nvPr/>
        </p:nvSpPr>
        <p:spPr>
          <a:xfrm>
            <a:off x="279699" y="1449593"/>
            <a:ext cx="65621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오른쪽에 위치한 코드를 추가하고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실행시키면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이제 키보드의 입력에 따라서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빨간 공이 이동하는 것을 볼 수 있습니다</a:t>
            </a:r>
            <a:r>
              <a:rPr lang="en-US" altLang="ko-KR" dirty="0"/>
              <a:t>.</a:t>
            </a:r>
          </a:p>
        </p:txBody>
      </p:sp>
      <p:pic>
        <p:nvPicPr>
          <p:cNvPr id="10" name="그림 9" descr="폰트, 텍스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69EA91-24E4-B51E-B7E8-66A1378CC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4686" y="6012132"/>
            <a:ext cx="2219635" cy="685896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57A610-E9C8-59ED-396D-BD4E6C2F85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4686" y="523725"/>
            <a:ext cx="262926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6242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9B01-94ED-FED2-225C-901F53686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F2B037-569F-3F61-D19E-91516E0B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9875520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같은 방식으로 피해야 할 공 </a:t>
            </a:r>
            <a:r>
              <a:rPr lang="en-US" altLang="ko-KR" sz="3600" b="1" dirty="0"/>
              <a:t>5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개를 추가해 보자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15060C-6006-0B42-11AA-85B4D9BB4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095" y="1774758"/>
            <a:ext cx="6992326" cy="4448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AB3ED8-FBF4-1102-C1A2-7C48A7876555}"/>
              </a:ext>
            </a:extLst>
          </p:cNvPr>
          <p:cNvSpPr txBox="1"/>
          <p:nvPr/>
        </p:nvSpPr>
        <p:spPr>
          <a:xfrm>
            <a:off x="279699" y="1449593"/>
            <a:ext cx="65621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이미 빨간 공을 그릴때와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그냥 피해야 할 공만 추가했습니다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이렇게 추가하고 실행 시키면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9" name="그림 8" descr="스크린샷, 소프트웨어, 컴퓨터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DD8D0-8DEF-0D52-F80F-37BBEC2A4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699" y="3112366"/>
            <a:ext cx="4326304" cy="347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9469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51B6F-A097-6508-27D4-8740EAF3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81C193-2F41-AB30-085E-70DBCD34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7799294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이제 파란 공도 움직이게 해 봅시다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766B0-8CB3-0FCD-E3A4-E95E93B87DA1}"/>
              </a:ext>
            </a:extLst>
          </p:cNvPr>
          <p:cNvSpPr txBox="1"/>
          <p:nvPr/>
        </p:nvSpPr>
        <p:spPr>
          <a:xfrm>
            <a:off x="6945249" y="1246937"/>
            <a:ext cx="4743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대충 </a:t>
            </a:r>
            <a:r>
              <a:rPr lang="en-US" altLang="ko-KR" dirty="0"/>
              <a:t>speed </a:t>
            </a:r>
            <a:r>
              <a:rPr lang="ko-KR" altLang="en-US" dirty="0"/>
              <a:t>를 </a:t>
            </a:r>
            <a:r>
              <a:rPr lang="en-US" altLang="ko-KR" dirty="0"/>
              <a:t>x </a:t>
            </a:r>
            <a:r>
              <a:rPr lang="ko-KR" altLang="en-US" dirty="0"/>
              <a:t>축에만 더해서 어떻게 </a:t>
            </a:r>
            <a:endParaRPr lang="en-US" altLang="ko-KR" dirty="0"/>
          </a:p>
          <a:p>
            <a:r>
              <a:rPr lang="ko-KR" altLang="en-US" dirty="0"/>
              <a:t>움직이는지 확인 해 보면</a:t>
            </a:r>
            <a:r>
              <a:rPr lang="en-US" altLang="ko-KR" dirty="0"/>
              <a:t>…</a:t>
            </a:r>
          </a:p>
        </p:txBody>
      </p:sp>
      <p:pic>
        <p:nvPicPr>
          <p:cNvPr id="10" name="그림 9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24569A-A579-A83F-634E-4F491913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80" y="920707"/>
            <a:ext cx="6392167" cy="3391373"/>
          </a:xfrm>
          <a:prstGeom prst="rect">
            <a:avLst/>
          </a:prstGeom>
        </p:spPr>
      </p:pic>
      <p:pic>
        <p:nvPicPr>
          <p:cNvPr id="12" name="그림 11" descr="스크린샷, 소프트웨어, 컴퓨터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F58C8E-7441-07D9-058D-50160B437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75" y="4757914"/>
            <a:ext cx="2762588" cy="2167935"/>
          </a:xfrm>
          <a:prstGeom prst="rect">
            <a:avLst/>
          </a:prstGeom>
        </p:spPr>
      </p:pic>
      <p:pic>
        <p:nvPicPr>
          <p:cNvPr id="14" name="그림 13" descr="스크린샷, 컴퓨터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1E9F52-742E-D240-D462-60BE68EE5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2092" y="4653758"/>
            <a:ext cx="2658708" cy="20899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61B885-1B7D-1D6B-DB5E-A3F9CB15B32B}"/>
              </a:ext>
            </a:extLst>
          </p:cNvPr>
          <p:cNvSpPr txBox="1"/>
          <p:nvPr/>
        </p:nvSpPr>
        <p:spPr>
          <a:xfrm>
            <a:off x="6789029" y="5287897"/>
            <a:ext cx="47436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잘 움직이기는 하는데 화면 밖으로 나가서 다시는 들어오지 않는다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67894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1BFF-72E4-F7DE-BC79-61E7BBA8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0E207-F224-0B42-E9F9-6069E77E6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7799294" cy="5911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이제 파란 공도 움직이게 해 봅시다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A70969-2901-03BB-3263-2A893A6C1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45" y="1263801"/>
            <a:ext cx="3991532" cy="4782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51282-B565-FAA1-6EC2-B0C24FB7AA0F}"/>
              </a:ext>
            </a:extLst>
          </p:cNvPr>
          <p:cNvSpPr txBox="1"/>
          <p:nvPr/>
        </p:nvSpPr>
        <p:spPr>
          <a:xfrm>
            <a:off x="496423" y="1159327"/>
            <a:ext cx="47436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화면 넓이가 </a:t>
            </a:r>
            <a:r>
              <a:rPr lang="en-US" altLang="ko-KR" dirty="0"/>
              <a:t>x</a:t>
            </a:r>
            <a:r>
              <a:rPr lang="ko-KR" altLang="en-US" dirty="0"/>
              <a:t>축은 </a:t>
            </a:r>
            <a:r>
              <a:rPr lang="en-US" altLang="ko-KR" dirty="0"/>
              <a:t>0~800</a:t>
            </a:r>
          </a:p>
          <a:p>
            <a:r>
              <a:rPr lang="en-US" altLang="ko-KR" dirty="0"/>
              <a:t>Y</a:t>
            </a:r>
            <a:r>
              <a:rPr lang="ko-KR" altLang="en-US" dirty="0"/>
              <a:t>축은 </a:t>
            </a:r>
            <a:r>
              <a:rPr lang="en-US" altLang="ko-KR" dirty="0"/>
              <a:t>0~600 </a:t>
            </a:r>
            <a:r>
              <a:rPr lang="ko-KR" altLang="en-US" dirty="0"/>
              <a:t>이니까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반지름을 고려하면 벽에 </a:t>
            </a:r>
            <a:r>
              <a:rPr lang="ko-KR" altLang="en-US" dirty="0" err="1"/>
              <a:t>부딫혔을</a:t>
            </a:r>
            <a:r>
              <a:rPr lang="ko-KR" altLang="en-US" dirty="0"/>
              <a:t> 때</a:t>
            </a:r>
            <a:r>
              <a:rPr lang="en-US" altLang="ko-KR" dirty="0"/>
              <a:t>, </a:t>
            </a:r>
            <a:r>
              <a:rPr lang="ko-KR" altLang="en-US" dirty="0"/>
              <a:t>속도의 부호를 반대로 바꾸어 버리면 벽에서 충돌해서 돌아오는 느낌이 납니다</a:t>
            </a:r>
            <a:r>
              <a:rPr lang="en-US" altLang="ko-KR" dirty="0"/>
              <a:t>.</a:t>
            </a:r>
          </a:p>
        </p:txBody>
      </p:sp>
      <p:pic>
        <p:nvPicPr>
          <p:cNvPr id="8" name="그림 7" descr="컴퓨터, 스크린샷, 소프트웨어, 멀티미디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FA7AFE-2A21-2B17-DD5D-F71ED5896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938" y="3239976"/>
            <a:ext cx="4240761" cy="336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37330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19F4-5602-002C-F571-F407D534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3D8AD-7B89-2B03-9AF9-A3E23CC3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11026588" cy="12960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마지막으로 내가 조종하는 공과 </a:t>
            </a:r>
            <a:b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ko-KR" alt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부딫히면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게임오버 메시지를 띄웁니다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1F994-30EA-A989-414D-FB150D3C75B3}"/>
              </a:ext>
            </a:extLst>
          </p:cNvPr>
          <p:cNvSpPr txBox="1"/>
          <p:nvPr/>
        </p:nvSpPr>
        <p:spPr>
          <a:xfrm>
            <a:off x="582484" y="2062970"/>
            <a:ext cx="90133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내 공과 임의의 공의 거리가</a:t>
            </a:r>
            <a:r>
              <a:rPr lang="en-US" altLang="ko-KR" dirty="0"/>
              <a:t>, </a:t>
            </a:r>
            <a:r>
              <a:rPr lang="ko-KR" altLang="en-US" dirty="0"/>
              <a:t>두 공의 반지름보다 작다면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그게 바로 충돌한 것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그런데 거리를 루트를 쓰는 것 보다 그냥 제곱해서 계산하면 좋겠죠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아래처럼 쓰면 충돌했는지 아닌지 간단하게 체크가 가능 할 것 같습니다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8A17A-32B4-92F2-AE82-2D1B64506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5" y="4460633"/>
            <a:ext cx="451548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828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FAD3-5E2C-1261-7275-45032574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06B75-5EED-F5EA-0D9A-A1C3E7177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11026588" cy="12960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마지막으로 내가 조종하는 공과 </a:t>
            </a:r>
            <a:b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ko-KR" alt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부딫히면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게임오버 메시지를 띄웁니다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87A390-25E8-84E9-12F2-B6ABBEA6ACC9}"/>
              </a:ext>
            </a:extLst>
          </p:cNvPr>
          <p:cNvSpPr txBox="1"/>
          <p:nvPr/>
        </p:nvSpPr>
        <p:spPr>
          <a:xfrm>
            <a:off x="582484" y="2062970"/>
            <a:ext cx="90133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마지막으로 메시지를 띄우는 함수는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저기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0BE506-0628-46C3-A8DF-24F09FFE2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79" y="1645920"/>
            <a:ext cx="6875521" cy="42571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992878-9B84-56AC-7744-EDA755DC8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84" y="3504200"/>
            <a:ext cx="3553321" cy="314369"/>
          </a:xfrm>
          <a:prstGeom prst="rect">
            <a:avLst/>
          </a:prstGeom>
        </p:spPr>
      </p:pic>
      <p:pic>
        <p:nvPicPr>
          <p:cNvPr id="10" name="그림 9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6AFDD1-7A42-75DC-4749-7F8E14B9B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77" y="4449974"/>
            <a:ext cx="5210902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29763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B13F-E336-C4F8-67E3-5B43B0A3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856AC-BA50-84F0-FEB7-CA44D5A0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11026588" cy="12960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마지막으로 내가 조종하는 공과 </a:t>
            </a:r>
            <a:b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ko-KR" alt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부딫히면</a:t>
            </a:r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게임오버 메시지를 띄웁니다</a:t>
            </a:r>
            <a:r>
              <a:rPr lang="en-US" altLang="ko-KR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</a:t>
            </a:r>
            <a:endParaRPr lang="ko-KR" altLang="en-US" sz="3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그림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C69878-435E-F975-486A-1984FE14C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814" y="1728550"/>
            <a:ext cx="5325218" cy="340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7B478-20CC-39DD-BE7C-FA987260B037}"/>
              </a:ext>
            </a:extLst>
          </p:cNvPr>
          <p:cNvSpPr txBox="1"/>
          <p:nvPr/>
        </p:nvSpPr>
        <p:spPr>
          <a:xfrm>
            <a:off x="582484" y="2062970"/>
            <a:ext cx="90133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이제 간단하게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함수를 사용해서 조립만 하면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공이 </a:t>
            </a:r>
            <a:r>
              <a:rPr lang="ko-KR" altLang="en-US" dirty="0" err="1"/>
              <a:t>부딫혔을</a:t>
            </a:r>
            <a:r>
              <a:rPr lang="ko-KR" altLang="en-US" dirty="0"/>
              <a:t> 때 </a:t>
            </a:r>
            <a:r>
              <a:rPr lang="en-US" altLang="ko-KR" dirty="0"/>
              <a:t>Game Over </a:t>
            </a:r>
            <a:r>
              <a:rPr lang="ko-KR" altLang="en-US" dirty="0"/>
              <a:t>메시지가 뜹니다</a:t>
            </a:r>
            <a:r>
              <a:rPr lang="en-US" altLang="ko-KR" dirty="0"/>
              <a:t>.</a:t>
            </a:r>
          </a:p>
        </p:txBody>
      </p:sp>
      <p:pic>
        <p:nvPicPr>
          <p:cNvPr id="9" name="그림 8" descr="텍스트, 스크린샷, 컴퓨터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CE61DB-8BB8-4A1D-A8A0-0150C7A59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84" y="3691677"/>
            <a:ext cx="3559578" cy="287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36270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42D5A-F9E8-2563-029A-8B3856B0B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C475E-F7AF-E385-74D6-D7B4679C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99" y="253073"/>
            <a:ext cx="11026588" cy="6720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이제부터 시작해야 할 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D6B4A-AB71-4A54-21C8-AFB4EE82CD88}"/>
              </a:ext>
            </a:extLst>
          </p:cNvPr>
          <p:cNvSpPr txBox="1"/>
          <p:nvPr/>
        </p:nvSpPr>
        <p:spPr>
          <a:xfrm>
            <a:off x="679302" y="1051751"/>
            <a:ext cx="901333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우선 게임오버가 되어도</a:t>
            </a:r>
            <a:r>
              <a:rPr lang="en-US" altLang="ko-KR" dirty="0"/>
              <a:t>, </a:t>
            </a:r>
            <a:r>
              <a:rPr lang="ko-KR" altLang="en-US" dirty="0"/>
              <a:t>게임이 계속 돌아가고 캐릭터도 움직일 수 있는데 </a:t>
            </a:r>
            <a:r>
              <a:rPr lang="ko-KR" altLang="en-US" dirty="0" err="1"/>
              <a:t>정지하는게</a:t>
            </a:r>
            <a:r>
              <a:rPr lang="ko-KR" altLang="en-US" dirty="0"/>
              <a:t> 더 좋을 것 같아요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재시작 키를 누르면 재시작 할 수 있도록 하면 좋을 것 같아요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시간을 측정해서 </a:t>
            </a:r>
            <a:r>
              <a:rPr lang="ko-KR" altLang="en-US" dirty="0" err="1"/>
              <a:t>오래살아남기</a:t>
            </a:r>
            <a:r>
              <a:rPr lang="ko-KR" altLang="en-US" dirty="0"/>
              <a:t> 기록을 하면 좋을 것 같아요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시간에 따라 공이 더 많이 생길 수 있게 하면 좋을 것 같아요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 err="1"/>
              <a:t>파란공들끼리도</a:t>
            </a:r>
            <a:r>
              <a:rPr lang="ko-KR" altLang="en-US" dirty="0"/>
              <a:t> 충돌을 할 수 있게 하고 싶어요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등등 아주 많은 개선 구조가 있지만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위에서 했던 것 </a:t>
            </a:r>
            <a:r>
              <a:rPr lang="ko-KR" altLang="en-US" dirty="0" err="1"/>
              <a:t>처럼</a:t>
            </a:r>
            <a:r>
              <a:rPr lang="ko-KR" altLang="en-US" dirty="0"/>
              <a:t> 하나하나 개선 해 나가면 동일한 방식에서 개선 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유일하게 </a:t>
            </a:r>
            <a:r>
              <a:rPr lang="en-US" altLang="ko-KR" dirty="0"/>
              <a:t>4</a:t>
            </a:r>
            <a:r>
              <a:rPr lang="ko-KR" altLang="en-US" dirty="0"/>
              <a:t>번의 경우</a:t>
            </a:r>
            <a:r>
              <a:rPr lang="en-US" altLang="ko-KR" dirty="0"/>
              <a:t>, </a:t>
            </a:r>
            <a:r>
              <a:rPr lang="ko-KR" altLang="en-US" dirty="0"/>
              <a:t>현재 공을 하나하나 변수로 관리하고 있는데 리스트 형식으로 관리 해야 할 필요는 있습니다</a:t>
            </a:r>
            <a:r>
              <a:rPr lang="en-US" altLang="ko-KR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43122949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94EA1-331E-F9FE-C9C1-9B26E2EDB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CFE1EE-C46C-D44C-817A-8C2D7A21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2" y="461944"/>
            <a:ext cx="10515600" cy="1980042"/>
          </a:xfrm>
        </p:spPr>
        <p:txBody>
          <a:bodyPr>
            <a:normAutofit/>
          </a:bodyPr>
          <a:lstStyle/>
          <a:p>
            <a:r>
              <a:rPr lang="ko-KR" altLang="en-US" dirty="0"/>
              <a:t>프로그래밍은 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그렇게 복잡하지 않습니다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BFD45A-D5AC-90E0-8CC8-0CFA52EE384A}"/>
              </a:ext>
            </a:extLst>
          </p:cNvPr>
          <p:cNvSpPr txBox="1"/>
          <p:nvPr/>
        </p:nvSpPr>
        <p:spPr>
          <a:xfrm>
            <a:off x="582483" y="2686913"/>
            <a:ext cx="90133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간단한 수학과</a:t>
            </a:r>
            <a:endParaRPr lang="en-US" altLang="ko-KR" dirty="0"/>
          </a:p>
          <a:p>
            <a:r>
              <a:rPr lang="en-US" altLang="ko-KR" dirty="0"/>
              <a:t>API </a:t>
            </a:r>
            <a:r>
              <a:rPr lang="ko-KR" altLang="en-US" dirty="0"/>
              <a:t>문서만으로 우선 충분합니다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pygame</a:t>
            </a:r>
            <a:r>
              <a:rPr lang="en-US" altLang="ko-KR" dirty="0"/>
              <a:t> </a:t>
            </a:r>
            <a:r>
              <a:rPr lang="ko-KR" altLang="en-US" dirty="0"/>
              <a:t>의 문서 </a:t>
            </a:r>
            <a:r>
              <a:rPr lang="ko-KR" altLang="en-US" dirty="0" err="1"/>
              <a:t>같은것들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그리고 필요할 때 배우는 지식과 </a:t>
            </a:r>
            <a:r>
              <a:rPr lang="en-US" altLang="ko-KR" dirty="0"/>
              <a:t>AI</a:t>
            </a:r>
            <a:r>
              <a:rPr lang="ko-KR" altLang="en-US" dirty="0"/>
              <a:t>의 도움까지 </a:t>
            </a:r>
            <a:r>
              <a:rPr lang="ko-KR" altLang="en-US" dirty="0" err="1"/>
              <a:t>함께라면</a:t>
            </a:r>
            <a:r>
              <a:rPr lang="ko-KR" altLang="en-US" dirty="0"/>
              <a:t> 누구든지 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그러니 누구나 직접 만들면서 시작 할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346917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878</Words>
  <Application>Microsoft Office PowerPoint</Application>
  <PresentationFormat>와이드스크린</PresentationFormat>
  <Paragraphs>183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Dodge 게임으로 배우는 프로그래밍</vt:lpstr>
      <vt:lpstr>게임 루프의 구성</vt:lpstr>
      <vt:lpstr>게임 루프의 구성</vt:lpstr>
      <vt:lpstr>Pygame 라이브러리 소개</vt:lpstr>
      <vt:lpstr>Pygame으로 화면을 띄워보자</vt:lpstr>
      <vt:lpstr>Pygame으로 화면을 띄워보자</vt:lpstr>
      <vt:lpstr>Pygame으로 화면을 띄워보자</vt:lpstr>
      <vt:lpstr>빨간색 공을 하나 그려보자</vt:lpstr>
      <vt:lpstr>빨간색 공을 하나 그려보자</vt:lpstr>
      <vt:lpstr>빨간색 공을 하나 그려보자</vt:lpstr>
      <vt:lpstr>빨간색 공을 하나 그려보자</vt:lpstr>
      <vt:lpstr>그려진 빨간 공을 이동시켜 보자.</vt:lpstr>
      <vt:lpstr>그려진 빨간 공을 이동시켜 보자.</vt:lpstr>
      <vt:lpstr>그려진 빨간 공을 이동시켜 보자.</vt:lpstr>
      <vt:lpstr>같은 방식으로 피해야 할 공 5개를 추가해 보자.</vt:lpstr>
      <vt:lpstr>이제 파란 공도 움직이게 해 봅시다.</vt:lpstr>
      <vt:lpstr>이제 파란 공도 움직이게 해 봅시다.</vt:lpstr>
      <vt:lpstr>마지막으로 내가 조종하는 공과  부딫히면 게임오버 메시지를 띄웁니다.</vt:lpstr>
      <vt:lpstr>마지막으로 내가 조종하는 공과  부딫히면 게임오버 메시지를 띄웁니다.</vt:lpstr>
      <vt:lpstr>마지막으로 내가 조종하는 공과  부딫히면 게임오버 메시지를 띄웁니다.</vt:lpstr>
      <vt:lpstr>이제부터 시작해야 할 것</vt:lpstr>
      <vt:lpstr>프로그래밍은   그렇게 복잡하지 않습니다.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화랑 김</dc:creator>
  <cp:lastModifiedBy>화랑 김</cp:lastModifiedBy>
  <cp:revision>94</cp:revision>
  <dcterms:created xsi:type="dcterms:W3CDTF">2026-02-08T06:59:57Z</dcterms:created>
  <dcterms:modified xsi:type="dcterms:W3CDTF">2026-02-08T08:31:21Z</dcterms:modified>
</cp:coreProperties>
</file>